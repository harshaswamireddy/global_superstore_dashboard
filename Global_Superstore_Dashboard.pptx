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exen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70ea3706a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70ea3706a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70ea3706a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70ea3706a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70ea3706a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70ea3706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0ea3706a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70ea3706a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70ea3706a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70ea3706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0ea3706a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70ea3706a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77875"/>
            <a:ext cx="8520600" cy="10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600" u="sng">
                <a:latin typeface="Lexend"/>
                <a:ea typeface="Lexend"/>
                <a:cs typeface="Lexend"/>
                <a:sym typeface="Lexend"/>
              </a:rPr>
              <a:t>Global Superstore Dashboard </a:t>
            </a:r>
            <a:endParaRPr b="1" sz="4600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1250" y="1738375"/>
            <a:ext cx="85206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latin typeface="Lexend"/>
                <a:ea typeface="Lexend"/>
                <a:cs typeface="Lexend"/>
                <a:sym typeface="Lexend"/>
              </a:rPr>
              <a:t>Data-Driven Insights for Enterprise Decision Making </a:t>
            </a:r>
            <a:endParaRPr b="1" i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1250" y="2917650"/>
            <a:ext cx="8471100" cy="17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Presenter: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HARSHA SWAMIREDDY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Objective: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 interactive multi-page Power BI dashboard built with application-style navigation to analyze high-level financial KPIs, regional performance variances, product portfolio optimization, and customer segment dynamics. </a:t>
            </a:r>
            <a:endParaRPr sz="1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exend"/>
                <a:ea typeface="Lexend"/>
                <a:cs typeface="Lexend"/>
                <a:sym typeface="Lexend"/>
              </a:rPr>
              <a:t>Data Preprocessing &amp; Preparation </a:t>
            </a:r>
            <a:endParaRPr b="1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Integrity: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Configured strict data types for financial metrics (Decimal Number), dates (Date), and counts (Whole Number).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Database Optimization: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Deleted redundant columns (</a:t>
            </a:r>
            <a:r>
              <a:rPr lang="en-GB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ji_lu_shu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row_id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market2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to minimize file size and improve query speeds.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Chronological Sorting: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Extracted short months from the calendar using DAX (</a:t>
            </a:r>
            <a:r>
              <a:rPr lang="en-GB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FORMAT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and programmatically sorted them by a numerical </a:t>
            </a:r>
            <a:r>
              <a:rPr lang="en-GB">
                <a:solidFill>
                  <a:srgbClr val="188038"/>
                </a:solidFill>
                <a:latin typeface="Lexend"/>
                <a:ea typeface="Lexend"/>
                <a:cs typeface="Lexend"/>
                <a:sym typeface="Lexend"/>
              </a:rPr>
              <a:t>MONTH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column to ensure correct timeline alignment (Jan–Dec) instead of alphabetical order.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500" u="sng">
                <a:latin typeface="Lexend"/>
                <a:ea typeface="Lexend"/>
                <a:cs typeface="Lexend"/>
                <a:sym typeface="Lexend"/>
              </a:rPr>
              <a:t>Executive Overview: Performance &amp; Trends</a:t>
            </a:r>
            <a:endParaRPr b="1" sz="2500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8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Core Enterprise KPIs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Sales &amp; Orders: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Generated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$13M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total revenue from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25K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global transactions.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Customer Reach: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Acquired and tracked a footprint of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5K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unique customers.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Profitability: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Maintained an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11.61%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profit margin, yielding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$1.47M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net profit.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Growth Velocity: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Achieved a steady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0.52%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Year-over-Year (YoY) sales growth rate.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Time-Series &amp; Volatility Trends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Peak Seasonality: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Sales and profits hit major recurring peaks in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June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September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spike to annual highs in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November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December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Mid-Year Dip: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sharp operational valley is isolated in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July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marking a historical annual slow period for business revenue.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Product Category Contribution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Leader: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Technology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drives the highest gross sales volume, closely followed by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Furniture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Profit Driver: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Office Supplies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commands a massive </a:t>
            </a: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35.33%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($518.47K) share of net profit, indicating an exceptionally high underlying margin despite lower raw sales volume.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3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exend"/>
                <a:ea typeface="Lexend"/>
                <a:cs typeface="Lexend"/>
                <a:sym typeface="Lexend"/>
              </a:rPr>
              <a:t>Product Analysis: Portfolio Optimization </a:t>
            </a:r>
            <a:endParaRPr b="1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42575"/>
            <a:ext cx="8520600" cy="3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Sub-Category Performance (Profit vs. Sales)</a:t>
            </a:r>
            <a:endParaRPr b="1"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Profit Drivers: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Copiers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Phones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generate the highest net profit, despite Phones holding a lower profit margin relative to its massive sales volume.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Volume Leaders: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Phones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Copiers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lead aggregate sales volume, closely followed by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Chairs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Bookcases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Bottom-Line Leakage: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represent a severe profit drain, generating significant sales volume but resulting in a net loss exceeding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-$50K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Top 10 Product Rankings (Sales Concentration)</a:t>
            </a:r>
            <a:endParaRPr b="1"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Revenue Anchor: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Apple Smart Phones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stand as the number one revenue-generating product, driving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$87K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total sales.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Smartphone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Dominance: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top four slots are entirely dominated by major smartphone hardware brands (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Apple, Cisco, Motorola, Nokia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combining for over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$308K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isolated sales.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Pareto Distribution: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top 10 individual products alone account for a highly concentrated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55.1%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total business revenue.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exend"/>
                <a:ea typeface="Lexend"/>
                <a:cs typeface="Lexend"/>
                <a:sym typeface="Lexend"/>
              </a:rPr>
              <a:t>Customer Analysis: Segment Dynamics </a:t>
            </a:r>
            <a:endParaRPr b="1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70125"/>
            <a:ext cx="8520600" cy="3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Top Customer Revenue Ranking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 Gross Spenders: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Tom Ashbrook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leads global customer value, generating over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$40K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individual total sales.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Tier Volume: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highest-value customer pool is tightly packed, with the top five purchasers (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Tom Ashbrook, Tamara Chand, Greg Tran, Christopher Conant, and Sean Miller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each contributing between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$35K and $40K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gross revenue.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Segment Profit Contribution Breakdowns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Anchor Channel (Consumer):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Consumer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segment stands as the absolute engine of business profitability, driving a massive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51.06%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($749.24K) of total net profit.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Corporate Pillar: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Corporate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audience acts as the secondary anchor, securing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30.07%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($441.21K) of total profit.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Specialty Niche (Home Office):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Home Office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segment represents the smallest operational footprint, accounting for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18.88%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($277.01K) of the company's net earnings.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exend"/>
                <a:ea typeface="Lexend"/>
                <a:cs typeface="Lexend"/>
                <a:sym typeface="Lexend"/>
              </a:rPr>
              <a:t>Regional Analysis: Geographic Performance </a:t>
            </a:r>
            <a:endParaRPr b="1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Regional Sales Volume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Market: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Central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region dominates total volume, generating the highest sales by a wide margin.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Secondary Tier: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South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North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Oceania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follow as strong secondary drivers of sales volume.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Smallest Markets: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Caribbean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Canada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represent the lowest sales footprints.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Country Profit vs. Sales Disconnect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Leader: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United States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anchors global performance, leading in both total sales and net profit.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High-Margin Markets: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China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India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massive profit drivers, ranking 2nd and 3rd in total profit despite lower raw sales volume than Australia.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Margin Compression: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Australia</a:t>
            </a: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ranks 2nd in total sales volume but drops significantly lower in profit, indicating compressed margins from high costs or local discounting.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latin typeface="Lexend"/>
                <a:ea typeface="Lexend"/>
                <a:cs typeface="Lexend"/>
                <a:sym typeface="Lexend"/>
              </a:rPr>
              <a:t>Conclusion </a:t>
            </a:r>
            <a:endParaRPr b="1" u="sng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Achievements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Analyzed sales and profit performance across multiple markets.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Identified top-performing products, customers, and regions.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Monitored business performance using interactive KPIs.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Performed time-series analysis to track sales and profit trends.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Enabled data-driven decision-making through an interactive dashboard.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dashboard provides stakeholders with actionable insights to improve business performance, profitability, and strategic planning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